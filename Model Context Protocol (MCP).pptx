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5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03F6-45E3-4166-9876-C08C9444C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1437B-DBE1-4B2E-A07B-1C67A98C9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18938-8D14-4979-885F-C40A8AE9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F7DB-935C-4699-91F0-AB962A43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7D156-B424-40B0-A6DD-B652D880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2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D630-69DE-4B98-8C69-B09E88A5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E7B00-92F2-42F4-8352-A4D05BE9B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0F37E-034F-42C6-A156-83305F73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C37A4-3FEF-4C0F-A7F4-575908A4C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8EE4-544D-43E0-9A00-6B156FFA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9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A1E9-7426-43CA-8316-7CB1C9DC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47C6D-7D94-4CA4-869D-8AA388673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0E921-585F-4702-BC07-6EFA49C2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F74EF-7143-410C-8CEE-698242D5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4D971-6B16-4F97-94AF-2E094846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8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763E-E2AF-4C15-8331-D5FF3F64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C4981-8F81-4C65-893B-6ACAC3FC3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680AB-AE8F-4AD3-88AA-185E9E5DE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8F809-7180-4340-9AC5-322ECAEA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76AED-B6D5-4246-A306-9B4B79AC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0EA19-3D47-44F4-B4A3-1CB1615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2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ED4D-9C4B-4F94-B6C0-02AFD862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D0C9A-657A-47B6-9437-F27739475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FDB1A-26A6-49C4-B32D-9E1E8B83F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E88D1-63EB-4226-BE92-110E44B1B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22287-3FFD-45A9-B206-B425C10AF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2630E-6359-47FE-BCF6-787E9E5DE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BEAF04-F38A-464C-B4C2-3F1F03D3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2E6CB-8D4A-4FD2-928A-C23E0C46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4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C672-806B-4AB1-9CBC-BDE8B7DC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B232F-61EB-4AA7-B618-4EB8F7CA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CAF1F-8252-4B4B-9AC0-7946E9466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3856A-D678-4900-8864-46E17868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3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8B03AA-4925-4AC3-9B54-7D6917B2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DD1F2-0E7B-4849-BBEC-89109076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B6649-20DA-40A8-A918-6DCE4353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6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6E689-EFDF-454D-B6C4-47182FB7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22EF6-50B9-4874-9FDF-1E204063C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27DE0-404E-4FCB-B084-93BE76DC8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5EDAC-CEC6-473F-8342-2DEE1FDF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2463A-CE83-4433-AA40-72AB6146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30C66-9B8C-49E8-AF81-281FFE3E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5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A591-9011-4974-8A48-A1E78205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7F2A74-9775-405E-B59E-7D540BC41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B0553-B1C4-4572-96DA-BFA5D514F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A9CB5-749F-4A68-9243-5414F335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E8D4D-46EA-4F0D-BF7C-D968831A3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44715-CADF-4768-AB58-764F26F7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7A86-2F15-4244-BCA4-6C28E52D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9AE5F-FD27-48F8-9B46-83164A9BD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3380B-E809-4AD0-A3C1-68A0CBDEF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988ED-6C66-44FE-B4F2-39533CA8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63FF3-A565-42D9-A422-A21B7AF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7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8EBA99-C940-4DB3-83B8-0F4A2747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6A6F6-9016-4969-9A75-224446451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B3D1-F3F1-4AAC-AD72-9A218BC6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15381-A23E-4261-8A3C-F45E251E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98A9A-65BD-411D-8FC4-3AD2E341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2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956FD-6D3F-4A58-968B-A30A2D2E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65B84-1CD2-4294-892C-E291EC20F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4EFA7-7972-4398-90D4-A1A48EF78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F2FFD-3339-4137-99B5-F1B65F5E43A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A93A8-D76A-418C-8E51-538E8C599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1943B-03D1-4923-B491-393F54D85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57F1C-B8E1-4DC2-8F51-7094BC79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2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F302-C36C-4300-8788-71B1FC647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 Rounded MT Bold" panose="020F0704030504030204" pitchFamily="34" charset="0"/>
              </a:rPr>
              <a:t>Model Context Protocol (MCP)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71653-C4E8-4686-A77F-E8DF89839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065" y="5347607"/>
            <a:ext cx="2933700" cy="1077686"/>
          </a:xfrm>
        </p:spPr>
        <p:txBody>
          <a:bodyPr/>
          <a:lstStyle/>
          <a:p>
            <a:pPr algn="l"/>
            <a:r>
              <a:rPr lang="en-US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H.Hosseini</a:t>
            </a:r>
            <a:endParaRPr lang="en-US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algn="l"/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3 June 2026</a:t>
            </a:r>
          </a:p>
        </p:txBody>
      </p:sp>
    </p:spTree>
    <p:extLst>
      <p:ext uri="{BB962C8B-B14F-4D97-AF65-F5344CB8AC3E}">
        <p14:creationId xmlns:p14="http://schemas.microsoft.com/office/powerpoint/2010/main" val="3260948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62C5-0EAB-430A-9738-A1674727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قبل از </a:t>
            </a:r>
            <a:r>
              <a:rPr lang="en-US" b="1" dirty="0">
                <a:cs typeface="B Zar" panose="00000400000000000000" pitchFamily="2" charset="-78"/>
              </a:rPr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92FB-F1D5-4CA2-82B1-429F27C72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40858"/>
          </a:xfrm>
        </p:spPr>
        <p:txBody>
          <a:bodyPr/>
          <a:lstStyle/>
          <a:p>
            <a:pPr algn="r" rtl="1"/>
            <a:r>
              <a:rPr lang="fa-IR" dirty="0">
                <a:cs typeface="B Zar" panose="00000400000000000000" pitchFamily="2" charset="-78"/>
              </a:rPr>
              <a:t>هر </a:t>
            </a:r>
            <a:r>
              <a:rPr lang="en-US" dirty="0">
                <a:cs typeface="B Zar" panose="00000400000000000000" pitchFamily="2" charset="-78"/>
              </a:rPr>
              <a:t> AI Agent </a:t>
            </a:r>
            <a:r>
              <a:rPr lang="fa-IR" dirty="0">
                <a:cs typeface="B Zar" panose="00000400000000000000" pitchFamily="2" charset="-78"/>
              </a:rPr>
              <a:t>روش مخصوص خودش را داشت</a:t>
            </a:r>
          </a:p>
          <a:p>
            <a:pPr algn="r" rtl="1"/>
            <a:r>
              <a:rPr lang="fa-IR" dirty="0">
                <a:cs typeface="B Zar" panose="00000400000000000000" pitchFamily="2" charset="-78"/>
              </a:rPr>
              <a:t>هر ابزار نیازمند</a:t>
            </a:r>
            <a:r>
              <a:rPr lang="en-US" dirty="0">
                <a:cs typeface="B Zar" panose="00000400000000000000" pitchFamily="2" charset="-78"/>
              </a:rPr>
              <a:t>Integration </a:t>
            </a:r>
            <a:r>
              <a:rPr lang="fa-IR" dirty="0">
                <a:cs typeface="B Zar" panose="00000400000000000000" pitchFamily="2" charset="-78"/>
              </a:rPr>
              <a:t> جداگانه بود</a:t>
            </a:r>
          </a:p>
          <a:p>
            <a:pPr algn="r" rtl="1"/>
            <a:r>
              <a:rPr lang="fa-IR" dirty="0">
                <a:cs typeface="B Zar" panose="00000400000000000000" pitchFamily="2" charset="-78"/>
              </a:rPr>
              <a:t>توسعه </a:t>
            </a:r>
            <a:r>
              <a:rPr lang="en-US" dirty="0">
                <a:cs typeface="B Zar" panose="00000400000000000000" pitchFamily="2" charset="-78"/>
              </a:rPr>
              <a:t>Tool </a:t>
            </a:r>
            <a:r>
              <a:rPr lang="fa-IR" dirty="0">
                <a:cs typeface="B Zar" panose="00000400000000000000" pitchFamily="2" charset="-78"/>
              </a:rPr>
              <a:t>ها پیچیده بود</a:t>
            </a:r>
          </a:p>
          <a:p>
            <a:pPr algn="r" rtl="1"/>
            <a:r>
              <a:rPr lang="fa-IR" dirty="0">
                <a:cs typeface="B Zar" panose="00000400000000000000" pitchFamily="2" charset="-78"/>
              </a:rPr>
              <a:t>نگهداری سیستم دشوار میشد</a:t>
            </a:r>
            <a:endParaRPr lang="en-US" dirty="0">
              <a:cs typeface="B Zar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FD4F6-E681-4E83-A919-3BAFE41D25CD}"/>
              </a:ext>
            </a:extLst>
          </p:cNvPr>
          <p:cNvSpPr txBox="1"/>
          <p:nvPr/>
        </p:nvSpPr>
        <p:spPr>
          <a:xfrm>
            <a:off x="628153" y="3975651"/>
            <a:ext cx="31805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Zar" panose="00000400000000000000" pitchFamily="2" charset="-78"/>
              </a:rPr>
              <a:t>مثال:</a:t>
            </a:r>
          </a:p>
          <a:p>
            <a:pPr algn="r" rtl="1"/>
            <a:endParaRPr lang="fa-IR" dirty="0">
              <a:cs typeface="B Zar" panose="00000400000000000000" pitchFamily="2" charset="-78"/>
            </a:endParaRPr>
          </a:p>
          <a:p>
            <a:pPr algn="r" rtl="1"/>
            <a:r>
              <a:rPr lang="en-US" dirty="0" err="1">
                <a:cs typeface="B Zar" panose="00000400000000000000" pitchFamily="2" charset="-78"/>
              </a:rPr>
              <a:t>ChatGPT</a:t>
            </a:r>
            <a:r>
              <a:rPr lang="en-US" dirty="0">
                <a:cs typeface="B Zar" panose="00000400000000000000" pitchFamily="2" charset="-78"/>
              </a:rPr>
              <a:t> Plugin</a:t>
            </a:r>
          </a:p>
          <a:p>
            <a:pPr algn="r" rtl="1"/>
            <a:r>
              <a:rPr lang="en-US" dirty="0">
                <a:cs typeface="B Zar" panose="00000400000000000000" pitchFamily="2" charset="-78"/>
              </a:rPr>
              <a:t>Custom APIs</a:t>
            </a:r>
          </a:p>
          <a:p>
            <a:pPr algn="r" rtl="1"/>
            <a:r>
              <a:rPr lang="en-US" dirty="0">
                <a:cs typeface="B Zar" panose="00000400000000000000" pitchFamily="2" charset="-78"/>
              </a:rPr>
              <a:t> Function Calling </a:t>
            </a:r>
            <a:r>
              <a:rPr lang="fa-IR" dirty="0">
                <a:cs typeface="B Zar" panose="00000400000000000000" pitchFamily="2" charset="-78"/>
              </a:rPr>
              <a:t>اختصاصی</a:t>
            </a:r>
          </a:p>
          <a:p>
            <a:pPr algn="r" rtl="1"/>
            <a:r>
              <a:rPr lang="en-US" dirty="0">
                <a:cs typeface="B Zar" panose="00000400000000000000" pitchFamily="2" charset="-78"/>
              </a:rPr>
              <a:t>Webhook </a:t>
            </a:r>
            <a:r>
              <a:rPr lang="fa-IR" dirty="0">
                <a:cs typeface="B Zar" panose="00000400000000000000" pitchFamily="2" charset="-78"/>
              </a:rPr>
              <a:t>های سفارشی</a:t>
            </a:r>
          </a:p>
          <a:p>
            <a:pPr algn="r" rtl="1"/>
            <a:endParaRPr lang="fa-IR" dirty="0">
              <a:cs typeface="B Zar" panose="00000400000000000000" pitchFamily="2" charset="-78"/>
            </a:endParaRPr>
          </a:p>
          <a:p>
            <a:pPr algn="r" rtl="1"/>
            <a:r>
              <a:rPr lang="fa-IR" dirty="0" err="1">
                <a:cs typeface="B Zar" panose="00000400000000000000" pitchFamily="2" charset="-78"/>
              </a:rPr>
              <a:t>هرکدام</a:t>
            </a:r>
            <a:r>
              <a:rPr lang="fa-IR" dirty="0">
                <a:cs typeface="B Zar" panose="00000400000000000000" pitchFamily="2" charset="-78"/>
              </a:rPr>
              <a:t> ساختار متفاوتی داشتند.</a:t>
            </a:r>
            <a:endParaRPr lang="en-US" dirty="0">
              <a:cs typeface="B Za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451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72D4-4445-4E08-92D2-A8B875BB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هدف اصلی </a:t>
            </a:r>
            <a:r>
              <a:rPr lang="en-US" b="1" dirty="0">
                <a:cs typeface="B Zar" panose="00000400000000000000" pitchFamily="2" charset="-78"/>
              </a:rPr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C1A3-15D4-43D2-AB71-E4C45BF73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336" y="3463564"/>
            <a:ext cx="2884714" cy="2948733"/>
          </a:xfrm>
        </p:spPr>
        <p:txBody>
          <a:bodyPr>
            <a:normAutofit fontScale="92500" lnSpcReduction="10000"/>
          </a:bodyPr>
          <a:lstStyle/>
          <a:p>
            <a:pPr marL="0" indent="0" algn="ctr" rtl="1">
              <a:lnSpc>
                <a:spcPct val="170000"/>
              </a:lnSpc>
              <a:buNone/>
            </a:pPr>
            <a:r>
              <a:rPr lang="fa-IR" sz="2000" dirty="0">
                <a:cs typeface="B Zar" panose="00000400000000000000" pitchFamily="2" charset="-78"/>
              </a:rPr>
              <a:t>استاندارد مشترک</a:t>
            </a:r>
          </a:p>
          <a:p>
            <a:pPr marL="0" indent="0" algn="ctr" rtl="1">
              <a:lnSpc>
                <a:spcPct val="170000"/>
              </a:lnSpc>
              <a:buNone/>
            </a:pPr>
            <a:r>
              <a:rPr lang="fa-IR" sz="2000" dirty="0">
                <a:cs typeface="B Zar" panose="00000400000000000000" pitchFamily="2" charset="-78"/>
              </a:rPr>
              <a:t>توسعه آسانتر</a:t>
            </a:r>
          </a:p>
          <a:p>
            <a:pPr marL="0" indent="0" algn="ctr" rtl="1">
              <a:lnSpc>
                <a:spcPct val="170000"/>
              </a:lnSpc>
              <a:buNone/>
            </a:pPr>
            <a:r>
              <a:rPr lang="fa-IR" sz="2000" dirty="0">
                <a:cs typeface="B Zar" panose="00000400000000000000" pitchFamily="2" charset="-78"/>
              </a:rPr>
              <a:t>قابلیت استفاده مجدد</a:t>
            </a:r>
          </a:p>
          <a:p>
            <a:pPr marL="0" indent="0" algn="ctr" rtl="1">
              <a:lnSpc>
                <a:spcPct val="170000"/>
              </a:lnSpc>
              <a:buNone/>
            </a:pPr>
            <a:r>
              <a:rPr lang="fa-IR" sz="2000" dirty="0">
                <a:cs typeface="B Zar" panose="00000400000000000000" pitchFamily="2" charset="-78"/>
              </a:rPr>
              <a:t>اتصال ساده ابزارها</a:t>
            </a:r>
          </a:p>
          <a:p>
            <a:pPr marL="0" indent="0" algn="ctr" rtl="1">
              <a:lnSpc>
                <a:spcPct val="170000"/>
              </a:lnSpc>
              <a:buNone/>
            </a:pPr>
            <a:r>
              <a:rPr lang="fa-IR" sz="2000" dirty="0">
                <a:cs typeface="B Zar" panose="00000400000000000000" pitchFamily="2" charset="-78"/>
              </a:rPr>
              <a:t>معماری </a:t>
            </a:r>
            <a:r>
              <a:rPr lang="fa-IR" sz="2000" dirty="0" err="1">
                <a:cs typeface="B Zar" panose="00000400000000000000" pitchFamily="2" charset="-78"/>
              </a:rPr>
              <a:t>ماژولار</a:t>
            </a:r>
            <a:endParaRPr lang="en-US" sz="2000" dirty="0">
              <a:cs typeface="B Zar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247E6-D675-4800-9DC8-993DF022105F}"/>
              </a:ext>
            </a:extLst>
          </p:cNvPr>
          <p:cNvSpPr txBox="1"/>
          <p:nvPr/>
        </p:nvSpPr>
        <p:spPr>
          <a:xfrm>
            <a:off x="3832529" y="2858897"/>
            <a:ext cx="414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b="1" dirty="0">
                <a:cs typeface="B Zar" panose="00000400000000000000" pitchFamily="2" charset="-78"/>
              </a:rPr>
              <a:t> MCP </a:t>
            </a:r>
            <a:r>
              <a:rPr lang="fa-IR" b="1" dirty="0">
                <a:cs typeface="B Zar" panose="00000400000000000000" pitchFamily="2" charset="-78"/>
              </a:rPr>
              <a:t>یک زبان مشترک تعریف </a:t>
            </a:r>
            <a:r>
              <a:rPr lang="fa-IR" b="1" dirty="0" err="1">
                <a:cs typeface="B Zar" panose="00000400000000000000" pitchFamily="2" charset="-78"/>
              </a:rPr>
              <a:t>می‌کند</a:t>
            </a:r>
            <a:r>
              <a:rPr lang="fa-IR" b="1" dirty="0">
                <a:cs typeface="B Zar" panose="00000400000000000000" pitchFamily="2" charset="-78"/>
              </a:rPr>
              <a:t>.</a:t>
            </a:r>
            <a:endParaRPr lang="en-US" b="1" dirty="0">
              <a:cs typeface="B Zar" panose="000004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7F38D-CFF2-451E-9047-B913FCA157B8}"/>
              </a:ext>
            </a:extLst>
          </p:cNvPr>
          <p:cNvSpPr txBox="1"/>
          <p:nvPr/>
        </p:nvSpPr>
        <p:spPr>
          <a:xfrm>
            <a:off x="1478944" y="1854121"/>
            <a:ext cx="9493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AI Agent ↔ MCP Protocol ↔ Tools</a:t>
            </a:r>
            <a:endParaRPr lang="fa-IR" sz="4400" b="1" dirty="0"/>
          </a:p>
        </p:txBody>
      </p:sp>
    </p:spTree>
    <p:extLst>
      <p:ext uri="{BB962C8B-B14F-4D97-AF65-F5344CB8AC3E}">
        <p14:creationId xmlns:p14="http://schemas.microsoft.com/office/powerpoint/2010/main" val="190265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AA76-3EC0-4DA1-92BD-F6E47EBA2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542" y="365125"/>
            <a:ext cx="6217257" cy="1325563"/>
          </a:xfrm>
        </p:spPr>
        <p:txBody>
          <a:bodyPr/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معماری کلی</a:t>
            </a:r>
            <a:endParaRPr lang="en-US" b="1" dirty="0">
              <a:cs typeface="B Zar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773CB-FC4C-425C-8F6A-559AA6CDF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861"/>
            <a:ext cx="4012096" cy="5501102"/>
          </a:xfrm>
        </p:spPr>
        <p:txBody>
          <a:bodyPr anchor="ctr">
            <a:normAutofit lnSpcReduction="1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2400" b="1" dirty="0"/>
              <a:t>User</a:t>
            </a:r>
            <a:br>
              <a:rPr lang="en-US" sz="2400" b="1" dirty="0"/>
            </a:br>
            <a:r>
              <a:rPr lang="en-US" sz="2400" b="1" dirty="0"/>
              <a:t>↓</a:t>
            </a:r>
            <a:br>
              <a:rPr lang="en-US" sz="2400" b="1" dirty="0"/>
            </a:br>
            <a:r>
              <a:rPr lang="en-US" sz="2400" b="1" dirty="0"/>
              <a:t>AI Model</a:t>
            </a:r>
            <a:br>
              <a:rPr lang="en-US" sz="2400" b="1" dirty="0"/>
            </a:br>
            <a:r>
              <a:rPr lang="en-US" sz="2400" b="1" dirty="0"/>
              <a:t>↓</a:t>
            </a:r>
            <a:br>
              <a:rPr lang="en-US" sz="2400" b="1" dirty="0"/>
            </a:br>
            <a:r>
              <a:rPr lang="en-US" sz="2400" b="1" dirty="0"/>
              <a:t>MCP Client</a:t>
            </a:r>
            <a:br>
              <a:rPr lang="en-US" sz="2400" b="1" dirty="0"/>
            </a:br>
            <a:r>
              <a:rPr lang="en-US" sz="2400" b="1" dirty="0"/>
              <a:t>↓</a:t>
            </a:r>
            <a:br>
              <a:rPr lang="en-US" sz="2400" b="1" dirty="0"/>
            </a:br>
            <a:r>
              <a:rPr lang="en-US" sz="2400" b="1" dirty="0">
                <a:highlight>
                  <a:srgbClr val="FFFF00"/>
                </a:highlight>
              </a:rPr>
              <a:t>MCP Server</a:t>
            </a:r>
            <a:br>
              <a:rPr lang="en-US" sz="2400" b="1" dirty="0"/>
            </a:br>
            <a:r>
              <a:rPr lang="en-US" sz="2400" b="1" dirty="0"/>
              <a:t>↓</a:t>
            </a:r>
            <a:br>
              <a:rPr lang="en-US" sz="2400" b="1" dirty="0"/>
            </a:br>
            <a:r>
              <a:rPr lang="en-US" sz="2400" b="1" dirty="0"/>
              <a:t>Tools / APIs / Database</a:t>
            </a:r>
          </a:p>
        </p:txBody>
      </p:sp>
    </p:spTree>
    <p:extLst>
      <p:ext uri="{BB962C8B-B14F-4D97-AF65-F5344CB8AC3E}">
        <p14:creationId xmlns:p14="http://schemas.microsoft.com/office/powerpoint/2010/main" val="9937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0F70-D9F6-4B91-9DDE-BD2A9EE5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اجزای اصلی </a:t>
            </a:r>
            <a:r>
              <a:rPr lang="en-US" b="1" dirty="0">
                <a:cs typeface="B Zar" panose="00000400000000000000" pitchFamily="2" charset="-78"/>
              </a:rPr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50E66-90CF-465A-956A-747FEBDE8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6063" y="1852654"/>
            <a:ext cx="2700130" cy="4300454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 rtl="1">
              <a:buNone/>
            </a:pPr>
            <a:r>
              <a:rPr lang="en-US" sz="1600" b="1" dirty="0">
                <a:cs typeface="B Zar" panose="00000400000000000000" pitchFamily="2" charset="-78"/>
              </a:rPr>
              <a:t>MCP Host</a:t>
            </a:r>
          </a:p>
          <a:p>
            <a:pPr marL="0" indent="0" algn="ctr" rtl="1">
              <a:buNone/>
            </a:pPr>
            <a:r>
              <a:rPr lang="fa-IR" sz="1200" dirty="0" err="1">
                <a:cs typeface="B Zar" panose="00000400000000000000" pitchFamily="2" charset="-78"/>
              </a:rPr>
              <a:t>برنامه‌ای</a:t>
            </a:r>
            <a:r>
              <a:rPr lang="fa-IR" sz="1200" dirty="0">
                <a:cs typeface="B Zar" panose="00000400000000000000" pitchFamily="2" charset="-78"/>
              </a:rPr>
              <a:t> که مدل </a:t>
            </a:r>
            <a:r>
              <a:rPr lang="en-US" sz="1200" dirty="0">
                <a:cs typeface="B Zar" panose="00000400000000000000" pitchFamily="2" charset="-78"/>
              </a:rPr>
              <a:t> AI </a:t>
            </a:r>
            <a:r>
              <a:rPr lang="fa-IR" sz="1200" dirty="0">
                <a:cs typeface="B Zar" panose="00000400000000000000" pitchFamily="2" charset="-78"/>
              </a:rPr>
              <a:t>داخل آن اجرا </a:t>
            </a:r>
            <a:r>
              <a:rPr lang="fa-IR" sz="1200" dirty="0" err="1">
                <a:cs typeface="B Zar" panose="00000400000000000000" pitchFamily="2" charset="-78"/>
              </a:rPr>
              <a:t>می‌شود</a:t>
            </a:r>
            <a:endParaRPr lang="en-US" sz="1200" dirty="0">
              <a:cs typeface="B Zar" panose="00000400000000000000" pitchFamily="2" charset="-78"/>
            </a:endParaRPr>
          </a:p>
          <a:p>
            <a:pPr marL="0" indent="0" algn="ctr" rtl="1">
              <a:buNone/>
            </a:pPr>
            <a:endParaRPr lang="fa-IR" sz="1400" dirty="0">
              <a:cs typeface="B Zar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1600" dirty="0">
                <a:cs typeface="B Zar" panose="00000400000000000000" pitchFamily="2" charset="-78"/>
              </a:rPr>
              <a:t>مثال: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sz="1600" dirty="0">
                <a:cs typeface="B Zar" panose="00000400000000000000" pitchFamily="2" charset="-78"/>
              </a:rPr>
              <a:t>Claude Desktop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sz="1600" dirty="0">
                <a:cs typeface="B Zar" panose="00000400000000000000" pitchFamily="2" charset="-78"/>
              </a:rPr>
              <a:t>AI IDE </a:t>
            </a:r>
            <a:r>
              <a:rPr lang="fa-IR" sz="1600" dirty="0">
                <a:cs typeface="B Zar" panose="00000400000000000000" pitchFamily="2" charset="-78"/>
              </a:rPr>
              <a:t>ها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sz="1600" dirty="0">
                <a:cs typeface="B Zar" panose="00000400000000000000" pitchFamily="2" charset="-78"/>
              </a:rPr>
              <a:t>Agent Framework </a:t>
            </a:r>
            <a:r>
              <a:rPr lang="fa-IR" sz="1600" dirty="0">
                <a:cs typeface="B Zar" panose="00000400000000000000" pitchFamily="2" charset="-78"/>
              </a:rPr>
              <a:t>ها</a:t>
            </a:r>
          </a:p>
          <a:p>
            <a:pPr marL="0" indent="0" algn="r" rtl="1">
              <a:buNone/>
            </a:pPr>
            <a:endParaRPr lang="en-US" sz="1600" dirty="0">
              <a:cs typeface="B Zar" panose="00000400000000000000" pitchFamily="2" charset="-78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C273DF3-9DC2-4DA8-8E0E-6F9E6961DBAF}"/>
              </a:ext>
            </a:extLst>
          </p:cNvPr>
          <p:cNvSpPr txBox="1">
            <a:spLocks/>
          </p:cNvSpPr>
          <p:nvPr/>
        </p:nvSpPr>
        <p:spPr>
          <a:xfrm>
            <a:off x="6028580" y="1852654"/>
            <a:ext cx="2700130" cy="43004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anose="020B0604020202020204" pitchFamily="34" charset="0"/>
              <a:buNone/>
            </a:pPr>
            <a:r>
              <a:rPr lang="en-US" sz="1600" b="1" dirty="0">
                <a:cs typeface="B Zar" panose="00000400000000000000" pitchFamily="2" charset="-78"/>
              </a:rPr>
              <a:t>MCP Client</a:t>
            </a:r>
          </a:p>
          <a:p>
            <a:pPr marL="0" indent="0" algn="ctr" rtl="1">
              <a:buFont typeface="Arial" panose="020B0604020202020204" pitchFamily="34" charset="0"/>
              <a:buNone/>
            </a:pPr>
            <a:r>
              <a:rPr lang="fa-IR" sz="1200" dirty="0">
                <a:cs typeface="B Zar" panose="00000400000000000000" pitchFamily="2" charset="-78"/>
              </a:rPr>
              <a:t>بخشی که با </a:t>
            </a:r>
            <a:r>
              <a:rPr lang="en-US" sz="1200" dirty="0">
                <a:cs typeface="B Zar" panose="00000400000000000000" pitchFamily="2" charset="-78"/>
              </a:rPr>
              <a:t> MCP Server </a:t>
            </a:r>
            <a:r>
              <a:rPr lang="fa-IR" sz="1200" dirty="0">
                <a:cs typeface="B Zar" panose="00000400000000000000" pitchFamily="2" charset="-78"/>
              </a:rPr>
              <a:t>ارتباط برقرار </a:t>
            </a:r>
            <a:r>
              <a:rPr lang="fa-IR" sz="1200" dirty="0" err="1">
                <a:cs typeface="B Zar" panose="00000400000000000000" pitchFamily="2" charset="-78"/>
              </a:rPr>
              <a:t>می‌کند</a:t>
            </a:r>
            <a:endParaRPr lang="en-US" sz="1200" dirty="0">
              <a:cs typeface="B Zar" panose="00000400000000000000" pitchFamily="2" charset="-78"/>
            </a:endParaRPr>
          </a:p>
          <a:p>
            <a:pPr marL="0" indent="0" algn="r" rtl="1">
              <a:buNone/>
            </a:pPr>
            <a:endParaRPr lang="en-US" sz="1100" dirty="0">
              <a:cs typeface="B Zar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1600" dirty="0">
                <a:cs typeface="B Zar" panose="00000400000000000000" pitchFamily="2" charset="-78"/>
              </a:rPr>
              <a:t>وظایف: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cs typeface="B Zar" panose="00000400000000000000" pitchFamily="2" charset="-78"/>
              </a:rPr>
              <a:t>ارسال درخواست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cs typeface="B Zar" panose="00000400000000000000" pitchFamily="2" charset="-78"/>
              </a:rPr>
              <a:t>دریافت پاسخ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cs typeface="B Zar" panose="00000400000000000000" pitchFamily="2" charset="-78"/>
              </a:rPr>
              <a:t>مدیریت </a:t>
            </a:r>
            <a:r>
              <a:rPr lang="en-US" sz="1400" dirty="0">
                <a:cs typeface="B Zar" panose="00000400000000000000" pitchFamily="2" charset="-78"/>
              </a:rPr>
              <a:t>Tool Calls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endParaRPr lang="en-US" sz="1600" dirty="0">
              <a:cs typeface="B Zar" panose="00000400000000000000" pitchFamily="2" charset="-78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CB6C4ED-D272-4566-B7B1-E63DFD259AB4}"/>
              </a:ext>
            </a:extLst>
          </p:cNvPr>
          <p:cNvSpPr txBox="1">
            <a:spLocks/>
          </p:cNvSpPr>
          <p:nvPr/>
        </p:nvSpPr>
        <p:spPr>
          <a:xfrm>
            <a:off x="3172322" y="1852654"/>
            <a:ext cx="2700130" cy="430045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anose="020B0604020202020204" pitchFamily="34" charset="0"/>
              <a:buNone/>
            </a:pPr>
            <a:r>
              <a:rPr lang="en-US" sz="1600" b="1" dirty="0">
                <a:cs typeface="B Zar" panose="00000400000000000000" pitchFamily="2" charset="-78"/>
              </a:rPr>
              <a:t>MCP Server</a:t>
            </a:r>
          </a:p>
          <a:p>
            <a:pPr marL="0" indent="0" algn="ctr" rtl="1">
              <a:buFont typeface="Arial" panose="020B0604020202020204" pitchFamily="34" charset="0"/>
              <a:buNone/>
            </a:pPr>
            <a:r>
              <a:rPr lang="fa-IR" sz="1200" dirty="0" err="1">
                <a:cs typeface="B Zar" panose="00000400000000000000" pitchFamily="2" charset="-78"/>
              </a:rPr>
              <a:t>سرویسی</a:t>
            </a:r>
            <a:r>
              <a:rPr lang="fa-IR" sz="1200" dirty="0">
                <a:cs typeface="B Zar" panose="00000400000000000000" pitchFamily="2" charset="-78"/>
              </a:rPr>
              <a:t> که ابزارها و </a:t>
            </a:r>
            <a:r>
              <a:rPr lang="fa-IR" sz="1200" dirty="0" err="1">
                <a:cs typeface="B Zar" panose="00000400000000000000" pitchFamily="2" charset="-78"/>
              </a:rPr>
              <a:t>قابلیت‌ها</a:t>
            </a:r>
            <a:r>
              <a:rPr lang="fa-IR" sz="1200" dirty="0">
                <a:cs typeface="B Zar" panose="00000400000000000000" pitchFamily="2" charset="-78"/>
              </a:rPr>
              <a:t> را </a:t>
            </a:r>
            <a:r>
              <a:rPr lang="en-US" sz="1200" dirty="0">
                <a:cs typeface="B Zar" panose="00000400000000000000" pitchFamily="2" charset="-78"/>
              </a:rPr>
              <a:t> expose</a:t>
            </a:r>
            <a:r>
              <a:rPr lang="fa-IR" sz="1200" dirty="0" err="1">
                <a:cs typeface="B Zar" panose="00000400000000000000" pitchFamily="2" charset="-78"/>
              </a:rPr>
              <a:t>می‌کند</a:t>
            </a:r>
            <a:endParaRPr lang="en-US" sz="1200" dirty="0">
              <a:cs typeface="B Zar" panose="00000400000000000000" pitchFamily="2" charset="-78"/>
            </a:endParaRPr>
          </a:p>
          <a:p>
            <a:pPr marL="0" indent="0" algn="r" rtl="1">
              <a:buFont typeface="Arial" panose="020B0604020202020204" pitchFamily="34" charset="0"/>
              <a:buNone/>
            </a:pPr>
            <a:endParaRPr lang="en-US" sz="1100" dirty="0">
              <a:cs typeface="B Zar" panose="00000400000000000000" pitchFamily="2" charset="-78"/>
            </a:endParaRP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fa-IR" sz="1600" dirty="0">
                <a:cs typeface="B Zar" panose="00000400000000000000" pitchFamily="2" charset="-78"/>
              </a:rPr>
              <a:t>مثال:</a:t>
            </a:r>
            <a:endParaRPr lang="en-US" sz="1600" dirty="0">
              <a:cs typeface="B Zar" panose="00000400000000000000" pitchFamily="2" charset="-78"/>
            </a:endParaRPr>
          </a:p>
          <a:p>
            <a:pPr algn="r" rtl="1"/>
            <a:r>
              <a:rPr lang="en-US" sz="1600" dirty="0">
                <a:cs typeface="B Zar" panose="00000400000000000000" pitchFamily="2" charset="-78"/>
              </a:rPr>
              <a:t>File System Access</a:t>
            </a:r>
          </a:p>
          <a:p>
            <a:pPr algn="r" rtl="1"/>
            <a:r>
              <a:rPr lang="en-US" sz="1600" dirty="0">
                <a:cs typeface="B Zar" panose="00000400000000000000" pitchFamily="2" charset="-78"/>
              </a:rPr>
              <a:t>Database Query</a:t>
            </a:r>
          </a:p>
          <a:p>
            <a:pPr algn="r" rtl="1"/>
            <a:r>
              <a:rPr lang="en-US" sz="1600" dirty="0">
                <a:cs typeface="B Zar" panose="00000400000000000000" pitchFamily="2" charset="-78"/>
              </a:rPr>
              <a:t>Git Operations</a:t>
            </a:r>
          </a:p>
          <a:p>
            <a:pPr algn="r" rtl="1"/>
            <a:r>
              <a:rPr lang="en-US" sz="1600" dirty="0">
                <a:cs typeface="B Zar" panose="00000400000000000000" pitchFamily="2" charset="-78"/>
              </a:rPr>
              <a:t>Weather API</a:t>
            </a:r>
          </a:p>
          <a:p>
            <a:pPr algn="r" rtl="1"/>
            <a:r>
              <a:rPr lang="en-US" sz="1600" dirty="0">
                <a:cs typeface="B Zar" panose="00000400000000000000" pitchFamily="2" charset="-78"/>
              </a:rPr>
              <a:t>Custom Business Logic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7C76333-83DD-40DC-841A-0CF7B91B8CAF}"/>
              </a:ext>
            </a:extLst>
          </p:cNvPr>
          <p:cNvSpPr txBox="1">
            <a:spLocks/>
          </p:cNvSpPr>
          <p:nvPr/>
        </p:nvSpPr>
        <p:spPr>
          <a:xfrm>
            <a:off x="316065" y="1852654"/>
            <a:ext cx="2700130" cy="430045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anose="020B0604020202020204" pitchFamily="34" charset="0"/>
              <a:buNone/>
            </a:pPr>
            <a:r>
              <a:rPr lang="en-US" sz="1600" b="1" dirty="0">
                <a:cs typeface="B Zar" panose="00000400000000000000" pitchFamily="2" charset="-78"/>
              </a:rPr>
              <a:t>Tools</a:t>
            </a:r>
          </a:p>
          <a:p>
            <a:pPr marL="0" indent="0" algn="ctr" rtl="1">
              <a:buFont typeface="Arial" panose="020B0604020202020204" pitchFamily="34" charset="0"/>
              <a:buNone/>
            </a:pPr>
            <a:r>
              <a:rPr lang="fa-IR" sz="1100" dirty="0" err="1">
                <a:cs typeface="B Zar" panose="00000400000000000000" pitchFamily="2" charset="-78"/>
              </a:rPr>
              <a:t>عملیات‌هایی</a:t>
            </a:r>
            <a:r>
              <a:rPr lang="fa-IR" sz="1100" dirty="0">
                <a:cs typeface="B Zar" panose="00000400000000000000" pitchFamily="2" charset="-78"/>
              </a:rPr>
              <a:t> که </a:t>
            </a:r>
            <a:r>
              <a:rPr lang="en-US" sz="1100" dirty="0">
                <a:cs typeface="B Zar" panose="00000400000000000000" pitchFamily="2" charset="-78"/>
              </a:rPr>
              <a:t> AI </a:t>
            </a:r>
            <a:r>
              <a:rPr lang="fa-IR" sz="1100" dirty="0" err="1">
                <a:cs typeface="B Zar" panose="00000400000000000000" pitchFamily="2" charset="-78"/>
              </a:rPr>
              <a:t>می‌تواند</a:t>
            </a:r>
            <a:r>
              <a:rPr lang="fa-IR" sz="1100" dirty="0">
                <a:cs typeface="B Zar" panose="00000400000000000000" pitchFamily="2" charset="-78"/>
              </a:rPr>
              <a:t> اجرا کند</a:t>
            </a:r>
            <a:endParaRPr lang="en-US" sz="1100" dirty="0">
              <a:cs typeface="B Zar" panose="00000400000000000000" pitchFamily="2" charset="-78"/>
            </a:endParaRPr>
          </a:p>
          <a:p>
            <a:pPr marL="0" indent="0" algn="r" rtl="1">
              <a:buFont typeface="Arial" panose="020B0604020202020204" pitchFamily="34" charset="0"/>
              <a:buNone/>
            </a:pPr>
            <a:endParaRPr lang="en-US" sz="1100" dirty="0">
              <a:cs typeface="B Zar" panose="00000400000000000000" pitchFamily="2" charset="-78"/>
            </a:endParaRP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fa-IR" sz="1600" dirty="0">
                <a:cs typeface="B Zar" panose="00000400000000000000" pitchFamily="2" charset="-78"/>
              </a:rPr>
              <a:t>مثال:</a:t>
            </a:r>
          </a:p>
          <a:p>
            <a:pPr algn="r" rtl="1"/>
            <a:r>
              <a:rPr lang="en-US" sz="1600" dirty="0" err="1">
                <a:cs typeface="B Zar" panose="00000400000000000000" pitchFamily="2" charset="-78"/>
              </a:rPr>
              <a:t>read_file</a:t>
            </a:r>
            <a:endParaRPr lang="en-US" sz="1600" dirty="0">
              <a:cs typeface="B Zar" panose="00000400000000000000" pitchFamily="2" charset="-78"/>
            </a:endParaRPr>
          </a:p>
          <a:p>
            <a:pPr algn="r" rtl="1"/>
            <a:r>
              <a:rPr lang="en-US" sz="1600" dirty="0" err="1">
                <a:cs typeface="B Zar" panose="00000400000000000000" pitchFamily="2" charset="-78"/>
              </a:rPr>
              <a:t>search_database</a:t>
            </a:r>
            <a:endParaRPr lang="en-US" sz="1600" dirty="0">
              <a:cs typeface="B Zar" panose="00000400000000000000" pitchFamily="2" charset="-78"/>
            </a:endParaRPr>
          </a:p>
          <a:p>
            <a:pPr algn="r" rtl="1"/>
            <a:r>
              <a:rPr lang="en-US" sz="1600" dirty="0" err="1">
                <a:cs typeface="B Zar" panose="00000400000000000000" pitchFamily="2" charset="-78"/>
              </a:rPr>
              <a:t>send_email</a:t>
            </a:r>
            <a:endParaRPr lang="en-US" sz="1600" dirty="0">
              <a:cs typeface="B Zar" panose="00000400000000000000" pitchFamily="2" charset="-78"/>
            </a:endParaRPr>
          </a:p>
          <a:p>
            <a:pPr algn="r" rtl="1"/>
            <a:r>
              <a:rPr lang="en-US" sz="1600" dirty="0" err="1">
                <a:cs typeface="B Zar" panose="00000400000000000000" pitchFamily="2" charset="-78"/>
              </a:rPr>
              <a:t>calculate_salary</a:t>
            </a:r>
            <a:endParaRPr lang="en-US" sz="1600" dirty="0">
              <a:cs typeface="B Za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189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5131-F78A-4D62-811B-E362115AD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62" y="365125"/>
            <a:ext cx="5196838" cy="1325563"/>
          </a:xfrm>
        </p:spPr>
        <p:txBody>
          <a:bodyPr/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نحوه کار </a:t>
            </a:r>
            <a:r>
              <a:rPr lang="en-US" b="1" dirty="0">
                <a:cs typeface="B Zar" panose="00000400000000000000" pitchFamily="2" charset="-78"/>
              </a:rPr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CC513-2A46-4556-A791-9325CB7B8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604298"/>
            <a:ext cx="5637475" cy="5709037"/>
          </a:xfrm>
        </p:spPr>
        <p:txBody>
          <a:bodyPr>
            <a:normAutofit/>
          </a:bodyPr>
          <a:lstStyle/>
          <a:p>
            <a:pPr algn="r" rtl="1"/>
            <a:r>
              <a:rPr lang="fa-IR" sz="1800" b="1" dirty="0">
                <a:cs typeface="B Zar" panose="00000400000000000000" pitchFamily="2" charset="-78"/>
              </a:rPr>
              <a:t>مرحله ۱</a:t>
            </a:r>
          </a:p>
          <a:p>
            <a:pPr marL="0" indent="0" algn="r" rtl="1">
              <a:buNone/>
            </a:pPr>
            <a:r>
              <a:rPr lang="en-US" sz="1800" b="1" dirty="0">
                <a:cs typeface="B Zar" panose="00000400000000000000" pitchFamily="2" charset="-78"/>
              </a:rPr>
              <a:t>AI </a:t>
            </a:r>
            <a:r>
              <a:rPr lang="fa-IR" sz="1800" b="1" dirty="0">
                <a:cs typeface="B Zar" panose="00000400000000000000" pitchFamily="2" charset="-78"/>
              </a:rPr>
              <a:t> متوجه نیاز به </a:t>
            </a:r>
            <a:r>
              <a:rPr lang="en-US" sz="1800" b="1" dirty="0">
                <a:cs typeface="B Zar" panose="00000400000000000000" pitchFamily="2" charset="-78"/>
              </a:rPr>
              <a:t>Tool </a:t>
            </a:r>
            <a:r>
              <a:rPr lang="fa-IR" sz="1800" b="1" dirty="0">
                <a:cs typeface="B Zar" panose="00000400000000000000" pitchFamily="2" charset="-78"/>
              </a:rPr>
              <a:t> </a:t>
            </a:r>
            <a:r>
              <a:rPr lang="fa-IR" sz="1800" b="1" dirty="0" err="1">
                <a:cs typeface="B Zar" panose="00000400000000000000" pitchFamily="2" charset="-78"/>
              </a:rPr>
              <a:t>می‌شود</a:t>
            </a:r>
            <a:r>
              <a:rPr lang="fa-IR" sz="1800" b="1" dirty="0">
                <a:cs typeface="B Zar" panose="00000400000000000000" pitchFamily="2" charset="-78"/>
              </a:rPr>
              <a:t>. </a:t>
            </a:r>
            <a:r>
              <a:rPr lang="en-US" sz="1800" b="1" dirty="0">
                <a:cs typeface="B Zar" panose="00000400000000000000" pitchFamily="2" charset="-78"/>
              </a:rPr>
              <a:t> </a:t>
            </a:r>
            <a:r>
              <a:rPr lang="fa-IR" sz="1800" b="1" dirty="0">
                <a:cs typeface="B Zar" panose="00000400000000000000" pitchFamily="2" charset="-78"/>
              </a:rPr>
              <a:t>مثال:</a:t>
            </a:r>
            <a:r>
              <a:rPr lang="en-US" sz="1800" b="1" dirty="0">
                <a:cs typeface="B Zar" panose="00000400000000000000" pitchFamily="2" charset="-78"/>
              </a:rPr>
              <a:t> </a:t>
            </a:r>
            <a:r>
              <a:rPr lang="fa-IR" sz="1800" b="1" dirty="0">
                <a:cs typeface="B Zar" panose="00000400000000000000" pitchFamily="2" charset="-78"/>
              </a:rPr>
              <a:t>"فایل</a:t>
            </a:r>
            <a:r>
              <a:rPr lang="en-US" sz="1800" b="1" dirty="0">
                <a:cs typeface="B Zar" panose="00000400000000000000" pitchFamily="2" charset="-78"/>
              </a:rPr>
              <a:t>config </a:t>
            </a:r>
            <a:r>
              <a:rPr lang="fa-IR" sz="1800" b="1" dirty="0">
                <a:cs typeface="B Zar" panose="00000400000000000000" pitchFamily="2" charset="-78"/>
              </a:rPr>
              <a:t> را بخوان"</a:t>
            </a:r>
          </a:p>
          <a:p>
            <a:pPr marL="0" indent="0" algn="r" rtl="1">
              <a:buNone/>
            </a:pPr>
            <a:endParaRPr lang="en-US" sz="1800" b="1" dirty="0">
              <a:cs typeface="B Zar" panose="00000400000000000000" pitchFamily="2" charset="-78"/>
            </a:endParaRPr>
          </a:p>
          <a:p>
            <a:pPr algn="r" rtl="1"/>
            <a:r>
              <a:rPr lang="fa-IR" sz="1800" b="1" dirty="0">
                <a:cs typeface="B Zar" panose="00000400000000000000" pitchFamily="2" charset="-78"/>
              </a:rPr>
              <a:t>مرحله ۲</a:t>
            </a:r>
          </a:p>
          <a:p>
            <a:pPr marL="0" indent="0" algn="r" rtl="1">
              <a:buNone/>
            </a:pPr>
            <a:r>
              <a:rPr lang="en-US" sz="1800" b="1" dirty="0">
                <a:cs typeface="B Zar" panose="00000400000000000000" pitchFamily="2" charset="-78"/>
              </a:rPr>
              <a:t>AI </a:t>
            </a:r>
            <a:r>
              <a:rPr lang="fa-IR" sz="1800" b="1" dirty="0">
                <a:cs typeface="B Zar" panose="00000400000000000000" pitchFamily="2" charset="-78"/>
              </a:rPr>
              <a:t> یک</a:t>
            </a:r>
            <a:r>
              <a:rPr lang="en-US" sz="1800" b="1" dirty="0">
                <a:cs typeface="B Zar" panose="00000400000000000000" pitchFamily="2" charset="-78"/>
              </a:rPr>
              <a:t>Tool Call </a:t>
            </a:r>
            <a:r>
              <a:rPr lang="fa-IR" sz="1800" b="1" dirty="0">
                <a:cs typeface="B Zar" panose="00000400000000000000" pitchFamily="2" charset="-78"/>
              </a:rPr>
              <a:t> تولید میکند.</a:t>
            </a:r>
          </a:p>
          <a:p>
            <a:pPr marL="0" indent="0" algn="r" rtl="1">
              <a:buNone/>
            </a:pPr>
            <a:endParaRPr lang="fa-IR" sz="1800" b="1" dirty="0">
              <a:cs typeface="B Zar" panose="00000400000000000000" pitchFamily="2" charset="-78"/>
            </a:endParaRPr>
          </a:p>
          <a:p>
            <a:pPr algn="r" rtl="1"/>
            <a:r>
              <a:rPr lang="fa-IR" sz="1800" b="1" dirty="0">
                <a:cs typeface="B Zar" panose="00000400000000000000" pitchFamily="2" charset="-78"/>
              </a:rPr>
              <a:t>مرحله ۳</a:t>
            </a:r>
          </a:p>
          <a:p>
            <a:pPr marL="0" indent="0" algn="r" rtl="1">
              <a:buNone/>
            </a:pPr>
            <a:r>
              <a:rPr lang="en-US" sz="1800" b="1" dirty="0">
                <a:cs typeface="B Zar" panose="00000400000000000000" pitchFamily="2" charset="-78"/>
              </a:rPr>
              <a:t>MCP Client </a:t>
            </a:r>
            <a:r>
              <a:rPr lang="fa-IR" sz="1800" b="1" dirty="0">
                <a:cs typeface="B Zar" panose="00000400000000000000" pitchFamily="2" charset="-78"/>
              </a:rPr>
              <a:t> درخواست را به </a:t>
            </a:r>
            <a:r>
              <a:rPr lang="en-US" sz="1800" b="1" dirty="0">
                <a:cs typeface="B Zar" panose="00000400000000000000" pitchFamily="2" charset="-78"/>
              </a:rPr>
              <a:t>MCP Server </a:t>
            </a:r>
            <a:r>
              <a:rPr lang="fa-IR" sz="1800" b="1" dirty="0">
                <a:cs typeface="B Zar" panose="00000400000000000000" pitchFamily="2" charset="-78"/>
              </a:rPr>
              <a:t> </a:t>
            </a:r>
            <a:r>
              <a:rPr lang="fa-IR" sz="1800" b="1" dirty="0" err="1">
                <a:cs typeface="B Zar" panose="00000400000000000000" pitchFamily="2" charset="-78"/>
              </a:rPr>
              <a:t>می‍فرستد</a:t>
            </a:r>
            <a:r>
              <a:rPr lang="fa-IR" sz="1800" b="1" dirty="0">
                <a:cs typeface="B Zar" panose="00000400000000000000" pitchFamily="2" charset="-78"/>
              </a:rPr>
              <a:t>.</a:t>
            </a:r>
          </a:p>
          <a:p>
            <a:pPr marL="0" indent="0" algn="r" rtl="1">
              <a:buNone/>
            </a:pPr>
            <a:endParaRPr lang="fa-IR" sz="1800" b="1" dirty="0">
              <a:cs typeface="B Zar" panose="00000400000000000000" pitchFamily="2" charset="-78"/>
            </a:endParaRPr>
          </a:p>
          <a:p>
            <a:pPr algn="r" rtl="1"/>
            <a:r>
              <a:rPr lang="fa-IR" sz="1800" b="1" dirty="0">
                <a:cs typeface="B Zar" panose="00000400000000000000" pitchFamily="2" charset="-78"/>
              </a:rPr>
              <a:t>مرحله ۴</a:t>
            </a:r>
          </a:p>
          <a:p>
            <a:pPr marL="0" indent="0" algn="r" rtl="1">
              <a:buNone/>
            </a:pPr>
            <a:r>
              <a:rPr lang="en-US" sz="1800" b="1" dirty="0">
                <a:cs typeface="B Zar" panose="00000400000000000000" pitchFamily="2" charset="-78"/>
              </a:rPr>
              <a:t>MCP Server </a:t>
            </a:r>
            <a:r>
              <a:rPr lang="fa-IR" sz="1800" b="1" dirty="0">
                <a:cs typeface="B Zar" panose="00000400000000000000" pitchFamily="2" charset="-78"/>
              </a:rPr>
              <a:t> ابزار را اجرا میکند.</a:t>
            </a:r>
          </a:p>
          <a:p>
            <a:pPr marL="0" indent="0" algn="r" rtl="1">
              <a:buNone/>
            </a:pPr>
            <a:endParaRPr lang="fa-IR" sz="1800" b="1" dirty="0">
              <a:cs typeface="B Zar" panose="00000400000000000000" pitchFamily="2" charset="-78"/>
            </a:endParaRPr>
          </a:p>
          <a:p>
            <a:pPr algn="r" rtl="1"/>
            <a:r>
              <a:rPr lang="fa-IR" sz="1800" b="1" dirty="0">
                <a:cs typeface="B Zar" panose="00000400000000000000" pitchFamily="2" charset="-78"/>
              </a:rPr>
              <a:t>مرحله ۵</a:t>
            </a:r>
          </a:p>
          <a:p>
            <a:pPr marL="0" indent="0" algn="r" rtl="1">
              <a:buNone/>
            </a:pPr>
            <a:r>
              <a:rPr lang="fa-IR" sz="1800" b="1" dirty="0">
                <a:cs typeface="B Zar" panose="00000400000000000000" pitchFamily="2" charset="-78"/>
              </a:rPr>
              <a:t>نتیجه به </a:t>
            </a:r>
            <a:r>
              <a:rPr lang="en-US" sz="1800" b="1" dirty="0">
                <a:cs typeface="B Zar" panose="00000400000000000000" pitchFamily="2" charset="-78"/>
              </a:rPr>
              <a:t>AI </a:t>
            </a:r>
            <a:r>
              <a:rPr lang="fa-IR" sz="1800" b="1" dirty="0">
                <a:cs typeface="B Zar" panose="00000400000000000000" pitchFamily="2" charset="-78"/>
              </a:rPr>
              <a:t> برمیگردد و یک جواب انسانی تولید میکند.</a:t>
            </a:r>
            <a:endParaRPr lang="en-US" sz="1800" b="1" dirty="0">
              <a:cs typeface="B Za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08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DDFC-95FB-421E-A280-B3DF3891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پروتکل ارتباطی </a:t>
            </a:r>
            <a:r>
              <a:rPr lang="en-US" b="1" dirty="0">
                <a:cs typeface="B Zar" panose="00000400000000000000" pitchFamily="2" charset="-78"/>
              </a:rPr>
              <a:t>MCP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0444B2-84BC-408D-97D7-CD26C9468E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368" y="2132180"/>
            <a:ext cx="2843254" cy="3261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JSON-RPC 2.0</a:t>
            </a:r>
          </a:p>
          <a:p>
            <a:pPr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STDIO</a:t>
            </a:r>
          </a:p>
          <a:p>
            <a:pPr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</a:p>
          <a:p>
            <a:pPr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WebSocket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2DF79-3296-49E6-9ED3-5EB0B9609DA9}"/>
              </a:ext>
            </a:extLst>
          </p:cNvPr>
          <p:cNvSpPr txBox="1"/>
          <p:nvPr/>
        </p:nvSpPr>
        <p:spPr>
          <a:xfrm>
            <a:off x="6096000" y="1857665"/>
            <a:ext cx="2965835" cy="420435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"method": "tools/call",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"params": {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"name": "sum",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"arguments": {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"a": 5,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"b": 7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}</a:t>
            </a:r>
          </a:p>
          <a:p>
            <a:pPr>
              <a:lnSpc>
                <a:spcPct val="15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030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24A1-157C-4BDD-92F7-6A2CC69B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چرا </a:t>
            </a:r>
            <a:r>
              <a:rPr lang="en-US" b="1" dirty="0">
                <a:cs typeface="B Zar" panose="00000400000000000000" pitchFamily="2" charset="-78"/>
              </a:rPr>
              <a:t>MCP</a:t>
            </a:r>
            <a:r>
              <a:rPr lang="fa-IR" b="1" dirty="0">
                <a:cs typeface="B Zar" panose="00000400000000000000" pitchFamily="2" charset="-78"/>
              </a:rPr>
              <a:t> ؟</a:t>
            </a:r>
            <a:endParaRPr lang="en-US" b="1" dirty="0">
              <a:cs typeface="B Zar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EC649-3E93-47B7-A605-E39D3E50A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>
            <a:normAutofit fontScale="55000" lnSpcReduction="20000"/>
          </a:bodyPr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استانداردسازی</a:t>
            </a:r>
          </a:p>
          <a:p>
            <a:pPr marL="0" indent="0" algn="r" rtl="1">
              <a:buNone/>
            </a:pPr>
            <a:r>
              <a:rPr lang="fa-IR" dirty="0">
                <a:cs typeface="B Zar" panose="00000400000000000000" pitchFamily="2" charset="-78"/>
              </a:rPr>
              <a:t>تمام </a:t>
            </a:r>
            <a:r>
              <a:rPr lang="en-US" dirty="0">
                <a:cs typeface="B Zar" panose="00000400000000000000" pitchFamily="2" charset="-78"/>
              </a:rPr>
              <a:t>Tool </a:t>
            </a:r>
            <a:r>
              <a:rPr lang="fa-IR" dirty="0">
                <a:cs typeface="B Zar" panose="00000400000000000000" pitchFamily="2" charset="-78"/>
              </a:rPr>
              <a:t>ها ساختار یکسان دارند.</a:t>
            </a:r>
          </a:p>
          <a:p>
            <a:pPr algn="r" rtl="1"/>
            <a:endParaRPr lang="fa-IR" dirty="0">
              <a:cs typeface="B Zar" panose="00000400000000000000" pitchFamily="2" charset="-78"/>
            </a:endParaRPr>
          </a:p>
          <a:p>
            <a:pPr algn="r" rtl="1"/>
            <a:r>
              <a:rPr lang="fa-IR" b="1" dirty="0">
                <a:cs typeface="B Zar" panose="00000400000000000000" pitchFamily="2" charset="-78"/>
              </a:rPr>
              <a:t>توسعه </a:t>
            </a:r>
            <a:r>
              <a:rPr lang="fa-IR" b="1" dirty="0" err="1">
                <a:cs typeface="B Zar" panose="00000400000000000000" pitchFamily="2" charset="-78"/>
              </a:rPr>
              <a:t>سریع‌تر</a:t>
            </a:r>
            <a:endParaRPr lang="fa-IR" b="1" dirty="0">
              <a:cs typeface="B Zar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dirty="0">
                <a:cs typeface="B Zar" panose="00000400000000000000" pitchFamily="2" charset="-78"/>
              </a:rPr>
              <a:t>Tool </a:t>
            </a:r>
            <a:r>
              <a:rPr lang="fa-IR" dirty="0">
                <a:cs typeface="B Zar" panose="00000400000000000000" pitchFamily="2" charset="-78"/>
              </a:rPr>
              <a:t> جدید به سادگی اضافه </a:t>
            </a:r>
            <a:r>
              <a:rPr lang="fa-IR" dirty="0" err="1">
                <a:cs typeface="B Zar" panose="00000400000000000000" pitchFamily="2" charset="-78"/>
              </a:rPr>
              <a:t>می‌شود</a:t>
            </a:r>
            <a:r>
              <a:rPr lang="fa-IR" dirty="0">
                <a:cs typeface="B Zar" panose="00000400000000000000" pitchFamily="2" charset="-78"/>
              </a:rPr>
              <a:t>.</a:t>
            </a:r>
          </a:p>
          <a:p>
            <a:pPr algn="r" rtl="1"/>
            <a:endParaRPr lang="fa-IR" dirty="0">
              <a:cs typeface="B Zar" panose="00000400000000000000" pitchFamily="2" charset="-78"/>
            </a:endParaRPr>
          </a:p>
          <a:p>
            <a:pPr algn="r" rtl="1"/>
            <a:r>
              <a:rPr lang="fa-IR" b="1" dirty="0">
                <a:cs typeface="B Zar" panose="00000400000000000000" pitchFamily="2" charset="-78"/>
              </a:rPr>
              <a:t>استقلال از مدل</a:t>
            </a:r>
          </a:p>
          <a:p>
            <a:pPr marL="0" indent="0" algn="r" rtl="1">
              <a:buNone/>
            </a:pPr>
            <a:r>
              <a:rPr lang="fa-IR" dirty="0">
                <a:cs typeface="B Zar" panose="00000400000000000000" pitchFamily="2" charset="-78"/>
              </a:rPr>
              <a:t>مستقل از </a:t>
            </a:r>
            <a:r>
              <a:rPr lang="en-US" dirty="0" err="1">
                <a:cs typeface="B Zar" panose="00000400000000000000" pitchFamily="2" charset="-78"/>
              </a:rPr>
              <a:t>OpenAI</a:t>
            </a:r>
            <a:r>
              <a:rPr lang="en-US" dirty="0">
                <a:cs typeface="B Zar" panose="00000400000000000000" pitchFamily="2" charset="-78"/>
              </a:rPr>
              <a:t>، Claude </a:t>
            </a:r>
            <a:r>
              <a:rPr lang="fa-IR" dirty="0">
                <a:cs typeface="B Zar" panose="00000400000000000000" pitchFamily="2" charset="-78"/>
              </a:rPr>
              <a:t>و سایر </a:t>
            </a:r>
            <a:r>
              <a:rPr lang="fa-IR" dirty="0" err="1">
                <a:cs typeface="B Zar" panose="00000400000000000000" pitchFamily="2" charset="-78"/>
              </a:rPr>
              <a:t>مدل‌ها</a:t>
            </a:r>
            <a:r>
              <a:rPr lang="fa-IR" dirty="0">
                <a:cs typeface="B Zar" panose="00000400000000000000" pitchFamily="2" charset="-78"/>
              </a:rPr>
              <a:t>.</a:t>
            </a:r>
          </a:p>
          <a:p>
            <a:pPr algn="r" rtl="1"/>
            <a:endParaRPr lang="fa-IR" dirty="0">
              <a:cs typeface="B Zar" panose="00000400000000000000" pitchFamily="2" charset="-78"/>
            </a:endParaRPr>
          </a:p>
          <a:p>
            <a:pPr algn="r" rtl="1"/>
            <a:r>
              <a:rPr lang="fa-IR" b="1" dirty="0">
                <a:cs typeface="B Zar" panose="00000400000000000000" pitchFamily="2" charset="-78"/>
              </a:rPr>
              <a:t>قابلیت گسترش</a:t>
            </a:r>
          </a:p>
          <a:p>
            <a:pPr marL="0" indent="0" algn="r" rtl="1">
              <a:buNone/>
            </a:pPr>
            <a:r>
              <a:rPr lang="en-US" dirty="0">
                <a:cs typeface="B Zar" panose="00000400000000000000" pitchFamily="2" charset="-78"/>
              </a:rPr>
              <a:t>Microservice Friendly</a:t>
            </a:r>
          </a:p>
          <a:p>
            <a:pPr algn="r" rtl="1"/>
            <a:endParaRPr lang="en-US" dirty="0">
              <a:cs typeface="B Zar" panose="00000400000000000000" pitchFamily="2" charset="-78"/>
            </a:endParaRPr>
          </a:p>
          <a:p>
            <a:pPr algn="r" rtl="1"/>
            <a:r>
              <a:rPr lang="fa-IR" b="1" dirty="0">
                <a:cs typeface="B Zar" panose="00000400000000000000" pitchFamily="2" charset="-78"/>
              </a:rPr>
              <a:t>امنیت بهتر</a:t>
            </a:r>
          </a:p>
          <a:p>
            <a:pPr marL="0" indent="0" algn="r" rtl="1">
              <a:buNone/>
            </a:pPr>
            <a:r>
              <a:rPr lang="fa-IR" dirty="0">
                <a:cs typeface="B Zar" panose="00000400000000000000" pitchFamily="2" charset="-78"/>
              </a:rPr>
              <a:t>کنترل دسترسی متمرکز</a:t>
            </a:r>
            <a:endParaRPr lang="en-US" dirty="0">
              <a:cs typeface="B Zar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A7391-C591-403B-8ECF-8E2619CBF3B5}"/>
              </a:ext>
            </a:extLst>
          </p:cNvPr>
          <p:cNvSpPr txBox="1"/>
          <p:nvPr/>
        </p:nvSpPr>
        <p:spPr>
          <a:xfrm>
            <a:off x="0" y="1690688"/>
            <a:ext cx="2957885" cy="444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a-IR" dirty="0">
                <a:cs typeface="B Zar" panose="00000400000000000000" pitchFamily="2" charset="-78"/>
              </a:rPr>
              <a:t>اتصال</a:t>
            </a:r>
            <a:r>
              <a:rPr lang="en-US" dirty="0">
                <a:cs typeface="B Zar" panose="00000400000000000000" pitchFamily="2" charset="-78"/>
              </a:rPr>
              <a:t>AI </a:t>
            </a:r>
            <a:r>
              <a:rPr lang="fa-IR" dirty="0">
                <a:cs typeface="B Zar" panose="00000400000000000000" pitchFamily="2" charset="-78"/>
              </a:rPr>
              <a:t> به </a:t>
            </a:r>
            <a:r>
              <a:rPr lang="en-US" dirty="0">
                <a:cs typeface="B Zar" panose="00000400000000000000" pitchFamily="2" charset="-78"/>
              </a:rPr>
              <a:t>Database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B Zar" panose="00000400000000000000" pitchFamily="2" charset="-78"/>
              </a:rPr>
              <a:t>File Management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a-IR" dirty="0">
                <a:cs typeface="B Zar" panose="00000400000000000000" pitchFamily="2" charset="-78"/>
              </a:rPr>
              <a:t>اتصال به </a:t>
            </a:r>
            <a:r>
              <a:rPr lang="en-US" dirty="0">
                <a:cs typeface="B Zar" panose="00000400000000000000" pitchFamily="2" charset="-78"/>
              </a:rPr>
              <a:t>GitHub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B Zar" panose="00000400000000000000" pitchFamily="2" charset="-78"/>
              </a:rPr>
              <a:t>DevOps Automation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B Zar" panose="00000400000000000000" pitchFamily="2" charset="-78"/>
              </a:rPr>
              <a:t>CRM Systems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B Zar" panose="00000400000000000000" pitchFamily="2" charset="-78"/>
              </a:rPr>
              <a:t>ERP Systems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B Zar" panose="00000400000000000000" pitchFamily="2" charset="-78"/>
              </a:rPr>
              <a:t>Banking Systems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B Zar" panose="00000400000000000000" pitchFamily="2" charset="-78"/>
              </a:rPr>
              <a:t>IDE Assistants</a:t>
            </a:r>
          </a:p>
        </p:txBody>
      </p:sp>
    </p:spTree>
    <p:extLst>
      <p:ext uri="{BB962C8B-B14F-4D97-AF65-F5344CB8AC3E}">
        <p14:creationId xmlns:p14="http://schemas.microsoft.com/office/powerpoint/2010/main" val="1039200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C5AE-3061-4F59-A5A2-39572D68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 err="1">
                <a:cs typeface="B Zar" panose="00000400000000000000" pitchFamily="2" charset="-78"/>
              </a:rPr>
              <a:t>چالش‌های</a:t>
            </a:r>
            <a:r>
              <a:rPr lang="fa-IR" b="1" dirty="0">
                <a:cs typeface="B Zar" panose="00000400000000000000" pitchFamily="2" charset="-78"/>
              </a:rPr>
              <a:t> </a:t>
            </a:r>
            <a:r>
              <a:rPr lang="en-US" b="1" dirty="0">
                <a:cs typeface="B Zar" panose="00000400000000000000" pitchFamily="2" charset="-78"/>
              </a:rPr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3819-920E-4B65-96CD-57F666DC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92" y="1391478"/>
            <a:ext cx="3665551" cy="4785485"/>
          </a:xfrm>
        </p:spPr>
        <p:txBody>
          <a:bodyPr>
            <a:normAutofit/>
          </a:bodyPr>
          <a:lstStyle/>
          <a:p>
            <a:pPr algn="r" rtl="1"/>
            <a:r>
              <a:rPr lang="en-US" sz="2400" b="1" dirty="0">
                <a:cs typeface="B Zar" panose="00000400000000000000" pitchFamily="2" charset="-78"/>
              </a:rPr>
              <a:t>Security</a:t>
            </a:r>
          </a:p>
          <a:p>
            <a:pPr marL="0" indent="0" algn="r" rtl="1">
              <a:buNone/>
            </a:pPr>
            <a:r>
              <a:rPr lang="en-US" sz="1600" dirty="0">
                <a:cs typeface="B Zar" panose="00000400000000000000" pitchFamily="2" charset="-78"/>
              </a:rPr>
              <a:t>AI </a:t>
            </a:r>
            <a:r>
              <a:rPr lang="fa-IR" sz="1600" dirty="0">
                <a:cs typeface="B Zar" panose="00000400000000000000" pitchFamily="2" charset="-78"/>
              </a:rPr>
              <a:t> نباید به همه چیز دسترسی داشته باشد.</a:t>
            </a:r>
          </a:p>
          <a:p>
            <a:pPr marL="0" indent="0" algn="r" rtl="1">
              <a:buNone/>
            </a:pPr>
            <a:endParaRPr lang="fa-IR" sz="1600" dirty="0">
              <a:cs typeface="B Zar" panose="00000400000000000000" pitchFamily="2" charset="-78"/>
            </a:endParaRPr>
          </a:p>
          <a:p>
            <a:pPr algn="r" rtl="1"/>
            <a:r>
              <a:rPr lang="en-US" sz="2400" b="1" dirty="0">
                <a:cs typeface="B Zar" panose="00000400000000000000" pitchFamily="2" charset="-78"/>
              </a:rPr>
              <a:t>Prompt Injection</a:t>
            </a:r>
          </a:p>
          <a:p>
            <a:pPr marL="0" indent="0" algn="r" rtl="1">
              <a:buNone/>
            </a:pPr>
            <a:r>
              <a:rPr lang="fa-IR" sz="1600" dirty="0">
                <a:cs typeface="B Zar" panose="00000400000000000000" pitchFamily="2" charset="-78"/>
              </a:rPr>
              <a:t>ممکن است </a:t>
            </a:r>
            <a:r>
              <a:rPr lang="en-US" sz="1600" dirty="0">
                <a:cs typeface="B Zar" panose="00000400000000000000" pitchFamily="2" charset="-78"/>
              </a:rPr>
              <a:t>AI </a:t>
            </a:r>
            <a:r>
              <a:rPr lang="fa-IR" sz="1600" dirty="0">
                <a:cs typeface="B Zar" panose="00000400000000000000" pitchFamily="2" charset="-78"/>
              </a:rPr>
              <a:t> فریب بخورد.</a:t>
            </a:r>
          </a:p>
          <a:p>
            <a:pPr marL="0" indent="0" algn="r" rtl="1">
              <a:buNone/>
            </a:pPr>
            <a:endParaRPr lang="fa-IR" sz="2400" dirty="0">
              <a:cs typeface="B Zar" panose="00000400000000000000" pitchFamily="2" charset="-78"/>
            </a:endParaRPr>
          </a:p>
          <a:p>
            <a:pPr algn="r" rtl="1"/>
            <a:r>
              <a:rPr lang="en-US" sz="2400" b="1" dirty="0">
                <a:cs typeface="B Zar" panose="00000400000000000000" pitchFamily="2" charset="-78"/>
              </a:rPr>
              <a:t>Tool Isolation</a:t>
            </a:r>
          </a:p>
          <a:p>
            <a:pPr marL="0" indent="0" algn="r" rtl="1">
              <a:buNone/>
            </a:pPr>
            <a:r>
              <a:rPr lang="fa-IR" sz="1600" dirty="0">
                <a:cs typeface="B Zar" panose="00000400000000000000" pitchFamily="2" charset="-78"/>
              </a:rPr>
              <a:t>ابزارها باید </a:t>
            </a:r>
            <a:r>
              <a:rPr lang="en-US" sz="1600" dirty="0">
                <a:cs typeface="B Zar" panose="00000400000000000000" pitchFamily="2" charset="-78"/>
              </a:rPr>
              <a:t>sandbox </a:t>
            </a:r>
            <a:r>
              <a:rPr lang="fa-IR" sz="1600" dirty="0">
                <a:cs typeface="B Zar" panose="00000400000000000000" pitchFamily="2" charset="-78"/>
              </a:rPr>
              <a:t> شوند.</a:t>
            </a:r>
          </a:p>
          <a:p>
            <a:pPr marL="0" indent="0" algn="r" rtl="1">
              <a:buNone/>
            </a:pPr>
            <a:endParaRPr lang="fa-IR" sz="2400" dirty="0">
              <a:cs typeface="B Zar" panose="00000400000000000000" pitchFamily="2" charset="-78"/>
            </a:endParaRPr>
          </a:p>
          <a:p>
            <a:pPr algn="r" rtl="1"/>
            <a:r>
              <a:rPr lang="en-US" sz="2400" b="1" dirty="0">
                <a:cs typeface="B Zar" panose="00000400000000000000" pitchFamily="2" charset="-78"/>
              </a:rPr>
              <a:t>Performance</a:t>
            </a:r>
          </a:p>
          <a:p>
            <a:pPr marL="0" indent="0" algn="r" rtl="1">
              <a:buNone/>
            </a:pPr>
            <a:r>
              <a:rPr lang="en-US" sz="1500" dirty="0">
                <a:cs typeface="B Zar" panose="00000400000000000000" pitchFamily="2" charset="-78"/>
              </a:rPr>
              <a:t>Tool Calls </a:t>
            </a:r>
            <a:r>
              <a:rPr lang="fa-IR" sz="1500" dirty="0">
                <a:cs typeface="B Zar" panose="00000400000000000000" pitchFamily="2" charset="-78"/>
              </a:rPr>
              <a:t> زیاد میتوانند کند شوند.</a:t>
            </a:r>
          </a:p>
        </p:txBody>
      </p:sp>
    </p:spTree>
    <p:extLst>
      <p:ext uri="{BB962C8B-B14F-4D97-AF65-F5344CB8AC3E}">
        <p14:creationId xmlns:p14="http://schemas.microsoft.com/office/powerpoint/2010/main" val="125768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E635-7F0F-4B0A-BF57-D2BB9123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b="1" dirty="0">
                <a:cs typeface="B Zar" panose="00000400000000000000" pitchFamily="2" charset="-78"/>
              </a:rPr>
              <a:t>آینده </a:t>
            </a:r>
            <a:r>
              <a:rPr lang="en-US" b="1" dirty="0">
                <a:cs typeface="B Zar" panose="00000400000000000000" pitchFamily="2" charset="-78"/>
              </a:rPr>
              <a:t>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D3720-5AB3-4CF5-9F9A-9C18DA892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76" y="1923030"/>
            <a:ext cx="5149132" cy="3501798"/>
          </a:xfrm>
        </p:spPr>
        <p:txBody>
          <a:bodyPr/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fa-IR" dirty="0">
                <a:cs typeface="B Zar" panose="00000400000000000000" pitchFamily="2" charset="-78"/>
              </a:rPr>
              <a:t>احتمالاً</a:t>
            </a:r>
            <a:r>
              <a:rPr lang="en-US" dirty="0">
                <a:cs typeface="B Zar" panose="00000400000000000000" pitchFamily="2" charset="-78"/>
              </a:rPr>
              <a:t>MCP </a:t>
            </a:r>
            <a:r>
              <a:rPr lang="fa-IR" dirty="0">
                <a:cs typeface="B Zar" panose="00000400000000000000" pitchFamily="2" charset="-78"/>
              </a:rPr>
              <a:t> تبدیل خواهد شد به:</a:t>
            </a:r>
          </a:p>
          <a:p>
            <a:pPr marL="571500" indent="-457200" algn="r" rtl="1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400050" algn="l"/>
                <a:tab pos="571500" algn="l"/>
              </a:tabLst>
            </a:pPr>
            <a:r>
              <a:rPr lang="fa-IR" b="1" dirty="0">
                <a:cs typeface="B Zar" panose="00000400000000000000" pitchFamily="2" charset="-78"/>
              </a:rPr>
              <a:t>استاندارد اصلی </a:t>
            </a:r>
            <a:r>
              <a:rPr lang="en-US" b="1" dirty="0">
                <a:cs typeface="B Zar" panose="00000400000000000000" pitchFamily="2" charset="-78"/>
              </a:rPr>
              <a:t>AI Agents</a:t>
            </a:r>
          </a:p>
          <a:p>
            <a:pPr marL="571500" indent="-457200" algn="r" rtl="1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400050" algn="l"/>
                <a:tab pos="571500" algn="l"/>
              </a:tabLst>
            </a:pPr>
            <a:r>
              <a:rPr lang="fa-IR" b="1" dirty="0">
                <a:cs typeface="B Zar" panose="00000400000000000000" pitchFamily="2" charset="-78"/>
              </a:rPr>
              <a:t>جایگزین </a:t>
            </a:r>
            <a:r>
              <a:rPr lang="en-US" b="1" dirty="0">
                <a:cs typeface="B Zar" panose="00000400000000000000" pitchFamily="2" charset="-78"/>
              </a:rPr>
              <a:t>Plugin </a:t>
            </a:r>
            <a:r>
              <a:rPr lang="fa-IR" b="1" dirty="0">
                <a:cs typeface="B Zar" panose="00000400000000000000" pitchFamily="2" charset="-78"/>
              </a:rPr>
              <a:t>های اختصاصی</a:t>
            </a:r>
          </a:p>
          <a:p>
            <a:pPr marL="571500" indent="-457200" algn="r" rtl="1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400050" algn="l"/>
                <a:tab pos="571500" algn="l"/>
              </a:tabLst>
            </a:pPr>
            <a:r>
              <a:rPr lang="fa-IR" b="1" dirty="0">
                <a:cs typeface="B Zar" panose="00000400000000000000" pitchFamily="2" charset="-78"/>
              </a:rPr>
              <a:t>لایه ارتباطی </a:t>
            </a:r>
            <a:r>
              <a:rPr lang="en-US" b="1" dirty="0">
                <a:cs typeface="B Zar" panose="00000400000000000000" pitchFamily="2" charset="-78"/>
              </a:rPr>
              <a:t>Agent </a:t>
            </a:r>
            <a:r>
              <a:rPr lang="fa-IR" b="1" dirty="0">
                <a:cs typeface="B Zar" panose="00000400000000000000" pitchFamily="2" charset="-78"/>
              </a:rPr>
              <a:t>ها</a:t>
            </a:r>
          </a:p>
          <a:p>
            <a:pPr marL="0" indent="0" algn="r" rtl="1">
              <a:lnSpc>
                <a:spcPct val="150000"/>
              </a:lnSpc>
              <a:buNone/>
            </a:pPr>
            <a:endParaRPr lang="en-US" dirty="0">
              <a:cs typeface="B Za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2550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428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Wingdings</vt:lpstr>
      <vt:lpstr>Office Theme</vt:lpstr>
      <vt:lpstr>Model Context Protocol (MCP)</vt:lpstr>
      <vt:lpstr>قبل از MCP</vt:lpstr>
      <vt:lpstr>هدف اصلی MCP</vt:lpstr>
      <vt:lpstr>معماری کلی</vt:lpstr>
      <vt:lpstr>اجزای اصلی MCP</vt:lpstr>
      <vt:lpstr>نحوه کار MCP</vt:lpstr>
      <vt:lpstr>پروتکل ارتباطی MCP</vt:lpstr>
      <vt:lpstr>چرا MCP ؟</vt:lpstr>
      <vt:lpstr>چالش‌های MCP</vt:lpstr>
      <vt:lpstr>آینده MCP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</dc:title>
  <dc:creator>Hessam Hoseini</dc:creator>
  <cp:lastModifiedBy>Hessam Hoseini</cp:lastModifiedBy>
  <cp:revision>16</cp:revision>
  <dcterms:created xsi:type="dcterms:W3CDTF">2026-06-01T22:03:49Z</dcterms:created>
  <dcterms:modified xsi:type="dcterms:W3CDTF">2026-06-01T23:01:51Z</dcterms:modified>
</cp:coreProperties>
</file>